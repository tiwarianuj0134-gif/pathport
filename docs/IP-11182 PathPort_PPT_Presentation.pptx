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Nunito Semi Bold" panose="020B0604020202020204" charset="0"/>
      <p:regular r:id="rId11"/>
    </p:embeddedFont>
    <p:embeddedFont>
      <p:font typeface="PT Sans" panose="020B0503020203020204" pitchFamily="3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1" autoAdjust="0"/>
  </p:normalViewPr>
  <p:slideViewPr>
    <p:cSldViewPr snapToGrid="0" snapToObjects="1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834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3428" y="2742961"/>
            <a:ext cx="7468553" cy="1700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Not just a profile. Your proof of growth.</a:t>
            </a:r>
            <a:endParaRPr lang="en-US" sz="5350" dirty="0"/>
          </a:p>
        </p:txBody>
      </p:sp>
      <p:sp>
        <p:nvSpPr>
          <p:cNvPr id="5" name="Text 2"/>
          <p:cNvSpPr/>
          <p:nvPr/>
        </p:nvSpPr>
        <p:spPr>
          <a:xfrm>
            <a:off x="720494" y="5272326"/>
            <a:ext cx="7468553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full-stack MERN platform built for students, recruiters, and mentors — enabling continuous professional development, not just job search.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837724" y="7418015"/>
            <a:ext cx="4032171" cy="393502"/>
          </a:xfrm>
          <a:prstGeom prst="roundRect">
            <a:avLst>
              <a:gd name="adj" fmla="val 63875"/>
            </a:avLst>
          </a:prstGeom>
          <a:solidFill>
            <a:srgbClr val="CF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185" y="7552020"/>
            <a:ext cx="167521" cy="1675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14557" y="7418015"/>
            <a:ext cx="3529727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GPI / CLOUD COUNSELAGE INTERNSHIP PROJECT</a:t>
            </a:r>
            <a:endParaRPr lang="en-US" sz="1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5933AAB-7C1F-1746-DCD4-6173B1129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735" y="188515"/>
            <a:ext cx="7862849" cy="20003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1027" y="609838"/>
            <a:ext cx="4366260" cy="54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177439" y="1402080"/>
            <a:ext cx="4185523" cy="6217682"/>
          </a:xfrm>
          <a:prstGeom prst="roundRect">
            <a:avLst>
              <a:gd name="adj" fmla="val 10640"/>
            </a:avLst>
          </a:prstGeom>
          <a:solidFill>
            <a:srgbClr val="2D4DF2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362938" y="1566386"/>
            <a:ext cx="2354699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GPI Problem Statement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362938" y="2003584"/>
            <a:ext cx="3814524" cy="1680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Times New Roman" panose="02020603050405020304" pitchFamily="18" charset="0"/>
              </a:rPr>
              <a:t>Higher-education students lack a dedicated platform for </a:t>
            </a:r>
            <a:r>
              <a:rPr lang="en-US" sz="14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Times New Roman" panose="02020603050405020304" pitchFamily="18" charset="0"/>
              </a:rPr>
              <a:t>continuous professional development</a:t>
            </a:r>
            <a:r>
              <a:rPr lang="en-US" sz="14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Times New Roman" panose="02020603050405020304" pitchFamily="18" charset="0"/>
              </a:rPr>
              <a:t>. The gap between Year 1 and final year goes completely untracked — no skill roadmaps, no evidence of work, no mentorship journeys recorded.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689669" y="1566386"/>
            <a:ext cx="2418993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Existing Tools Fall Short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689669" y="2024182"/>
            <a:ext cx="3123605" cy="1694021"/>
          </a:xfrm>
          <a:prstGeom prst="roundRect">
            <a:avLst>
              <a:gd name="adj" fmla="val 6477"/>
            </a:avLst>
          </a:prstGeom>
          <a:solidFill>
            <a:srgbClr val="F3F3FF">
              <a:alpha val="75000"/>
            </a:srgbClr>
          </a:solidFill>
          <a:ln w="2286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0666809" y="2024182"/>
            <a:ext cx="91440" cy="1694021"/>
          </a:xfrm>
          <a:prstGeom prst="roundRect">
            <a:avLst>
              <a:gd name="adj" fmla="val 304408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0966609" y="2232541"/>
            <a:ext cx="2183130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LinkedIn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966609" y="2669738"/>
            <a:ext cx="2638306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Built for professionals, not for 1st–4th year students building their first profile.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10689669" y="3882509"/>
            <a:ext cx="3123605" cy="1694021"/>
          </a:xfrm>
          <a:prstGeom prst="roundRect">
            <a:avLst>
              <a:gd name="adj" fmla="val 6477"/>
            </a:avLst>
          </a:prstGeom>
          <a:solidFill>
            <a:srgbClr val="F3F3FF">
              <a:alpha val="75000"/>
            </a:srgbClr>
          </a:solidFill>
          <a:ln w="2286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10666809" y="3882509"/>
            <a:ext cx="91440" cy="1694021"/>
          </a:xfrm>
          <a:prstGeom prst="roundRect">
            <a:avLst>
              <a:gd name="adj" fmla="val 304408"/>
            </a:avLst>
          </a:prstGeom>
          <a:solidFill>
            <a:srgbClr val="018C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0966609" y="4090868"/>
            <a:ext cx="2183130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Unstop / Internshala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0966609" y="4528066"/>
            <a:ext cx="2638306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Focus on competitions and job listings — no growth tracking or mentorship depth.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10689669" y="5740837"/>
            <a:ext cx="3123605" cy="1694021"/>
          </a:xfrm>
          <a:prstGeom prst="roundRect">
            <a:avLst>
              <a:gd name="adj" fmla="val 6477"/>
            </a:avLst>
          </a:prstGeom>
          <a:solidFill>
            <a:srgbClr val="F3F3FF">
              <a:alpha val="75000"/>
            </a:srgbClr>
          </a:solidFill>
          <a:ln w="22860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10666809" y="5740837"/>
            <a:ext cx="91440" cy="1694021"/>
          </a:xfrm>
          <a:prstGeom prst="roundRect">
            <a:avLst>
              <a:gd name="adj" fmla="val 304408"/>
            </a:avLst>
          </a:prstGeom>
          <a:solidFill>
            <a:srgbClr val="DA33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0966609" y="5949196"/>
            <a:ext cx="2183130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All Platforms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966609" y="6386393"/>
            <a:ext cx="2638306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Generic skill tags. No evidence. No roadmap. No reflection. No proof of growth.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57369"/>
            <a:ext cx="4314706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Objectives &amp; User Roles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37724" y="1684973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Objectives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37724" y="2082165"/>
            <a:ext cx="376952" cy="376952"/>
          </a:xfrm>
          <a:prstGeom prst="roundRect">
            <a:avLst>
              <a:gd name="adj" fmla="val 66680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07971" y="2122825"/>
            <a:ext cx="236458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348621" y="2139672"/>
            <a:ext cx="3586877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Build a real MERN full-stack application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48621" y="2520077"/>
            <a:ext cx="5762149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Frontend SPA + REST API + database, all production-deployed.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37724" y="3029307"/>
            <a:ext cx="376952" cy="376952"/>
          </a:xfrm>
          <a:prstGeom prst="roundRect">
            <a:avLst>
              <a:gd name="adj" fmla="val 66680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07971" y="3069967"/>
            <a:ext cx="236458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348621" y="3086814"/>
            <a:ext cx="3207782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Support continuous student growth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48621" y="3467219"/>
            <a:ext cx="5762149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Skill roadmaps, evidence portfolios, and reflection journals across semesters.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7724" y="3976449"/>
            <a:ext cx="376952" cy="376952"/>
          </a:xfrm>
          <a:prstGeom prst="roundRect">
            <a:avLst>
              <a:gd name="adj" fmla="val 66680"/>
            </a:avLst>
          </a:prstGeom>
          <a:solidFill>
            <a:srgbClr val="F3F3FF"/>
          </a:solidFill>
          <a:ln w="15240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07971" y="4017109"/>
            <a:ext cx="236458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348621" y="4033957"/>
            <a:ext cx="328112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Unify networking, jobs &amp; mentorship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48621" y="4414361"/>
            <a:ext cx="5762149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One platform for students, recruiters, and mentors to interact meaningfully.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7724" y="4923592"/>
            <a:ext cx="376952" cy="376952"/>
          </a:xfrm>
          <a:prstGeom prst="roundRect">
            <a:avLst>
              <a:gd name="adj" fmla="val 66680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07971" y="4964251"/>
            <a:ext cx="236458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348621" y="4981099"/>
            <a:ext cx="2834640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Integrate AI for career guidance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348621" y="5361503"/>
            <a:ext cx="5762149" cy="4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Jarvis AI assistant provides profile-aware suggestions — not generic chatbot answers.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27250" y="1684973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User Roles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527250" y="2082165"/>
            <a:ext cx="6273046" cy="1623774"/>
          </a:xfrm>
          <a:prstGeom prst="roundRect">
            <a:avLst>
              <a:gd name="adj" fmla="val 15479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710011" y="2264926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8243" y="2403158"/>
            <a:ext cx="226100" cy="2261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710011" y="2901553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Student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7710011" y="3281958"/>
            <a:ext cx="5907524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profile, track skills, apply for jobs, request mentorship, grow continuously.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527250" y="3839885"/>
            <a:ext cx="6273046" cy="1623774"/>
          </a:xfrm>
          <a:prstGeom prst="roundRect">
            <a:avLst>
              <a:gd name="adj" fmla="val 15479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7710011" y="4022646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018CE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8243" y="4160877"/>
            <a:ext cx="226100" cy="2261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710011" y="4659273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Recruiter</a:t>
            </a:r>
            <a:endParaRPr lang="en-US" sz="1550" dirty="0"/>
          </a:p>
        </p:txBody>
      </p:sp>
      <p:sp>
        <p:nvSpPr>
          <p:cNvPr id="30" name="Text 26"/>
          <p:cNvSpPr/>
          <p:nvPr/>
        </p:nvSpPr>
        <p:spPr>
          <a:xfrm>
            <a:off x="7710011" y="5039678"/>
            <a:ext cx="5907524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Post jobs, manage applicant pipeline, review evidence portfolios and resumes.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7527250" y="5597604"/>
            <a:ext cx="6273046" cy="1623774"/>
          </a:xfrm>
          <a:prstGeom prst="roundRect">
            <a:avLst>
              <a:gd name="adj" fmla="val 15479"/>
            </a:avLst>
          </a:prstGeom>
          <a:solidFill>
            <a:srgbClr val="F3F3FF"/>
          </a:solidFill>
          <a:ln w="15240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7710011" y="5780365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DA33B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8243" y="5918597"/>
            <a:ext cx="226100" cy="2261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710011" y="6416993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Mentor</a:t>
            </a:r>
            <a:endParaRPr lang="en-US" sz="1550" dirty="0"/>
          </a:p>
        </p:txBody>
      </p:sp>
      <p:sp>
        <p:nvSpPr>
          <p:cNvPr id="35" name="Text 30"/>
          <p:cNvSpPr/>
          <p:nvPr/>
        </p:nvSpPr>
        <p:spPr>
          <a:xfrm>
            <a:off x="7710011" y="6797397"/>
            <a:ext cx="5907524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 mentorship offers, manage session requests, give structured guidance.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11160"/>
            <a:ext cx="4771430" cy="43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Technical Architecture &amp; Stack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943" y="1347668"/>
            <a:ext cx="9068395" cy="36041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63419" y="3903758"/>
            <a:ext cx="1872558" cy="233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React SPA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2995241" y="4208435"/>
            <a:ext cx="2440736" cy="16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TypeScript + Vite single-page app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256122" y="3209563"/>
            <a:ext cx="1872556" cy="233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Client Router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256122" y="3514240"/>
            <a:ext cx="2378832" cy="16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React Router, Context, Axios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563281" y="2492707"/>
            <a:ext cx="1872557" cy="233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Express API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995103" y="2797385"/>
            <a:ext cx="2440736" cy="33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Node.js REST endpoints and middleware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256122" y="1745453"/>
            <a:ext cx="1872556" cy="233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&amp; AI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256122" y="2050130"/>
            <a:ext cx="2378832" cy="33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MongoDB Atlas (Mongoose) + OpenAI API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7724" y="5169813"/>
            <a:ext cx="1724858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37724" y="5488067"/>
            <a:ext cx="2970490" cy="1375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React 18 + TypeScript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Vite SPA build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React Router v6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Context API + Hooks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MUI v5 + Glassmorphism CSS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Axios for API calls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73498" y="5169813"/>
            <a:ext cx="1724858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173498" y="5488067"/>
            <a:ext cx="2970490" cy="1139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Node.js + Express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REST API architecture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Modular route structure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Middleware pipeline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.env for all secrets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509272" y="5169813"/>
            <a:ext cx="1724858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Security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509272" y="5488067"/>
            <a:ext cx="2970490" cy="1139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JWT via </a:t>
            </a: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httpOnly cookies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bcrypt password hashing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helmet HTTP headers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cors configuration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express-rate-limit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0845046" y="5169813"/>
            <a:ext cx="1724858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Database &amp; AI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0845046" y="5488067"/>
            <a:ext cx="2970490" cy="1147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MongoDB Atlas cloud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Mongoose ODM schemas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OpenAI API (via .env)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hardcoded secrets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100% Free &amp; OSS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✅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37724" y="7014329"/>
            <a:ext cx="12954952" cy="503992"/>
          </a:xfrm>
          <a:prstGeom prst="roundRect">
            <a:avLst>
              <a:gd name="adj" fmla="val 43638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90" y="7221498"/>
            <a:ext cx="183237" cy="14656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314093" y="7153513"/>
            <a:ext cx="12332018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 tools are free and open-source — fully compliant with GPI / Cloud Counselage internship requirements.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827127"/>
            <a:ext cx="4189095" cy="52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Student Experience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324124" y="1728907"/>
            <a:ext cx="2510314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LinkedIn-Like Foundations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0799" y="2166223"/>
            <a:ext cx="267057" cy="26705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02648" y="2160746"/>
            <a:ext cx="209454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Rich Profile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902648" y="2573774"/>
            <a:ext cx="278046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Education, experience, skills, social links, and resume URL — all in one place.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0799" y="3672007"/>
            <a:ext cx="267057" cy="26705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02648" y="3666530"/>
            <a:ext cx="2459712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Connections &amp; Messaging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902648" y="4079558"/>
            <a:ext cx="278046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Send connection requests and chat 1-1 with peers, mentors, and recruiters.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0799" y="5177790"/>
            <a:ext cx="267057" cy="26705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02648" y="5172313"/>
            <a:ext cx="2433042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Feed, Jobs &amp; Applications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6902648" y="5585341"/>
            <a:ext cx="278046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Post updates, search jobs, apply, and track every application through a clear pipeline.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0125075" y="1728907"/>
            <a:ext cx="3007519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D4DF2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New</a:t>
            </a:r>
            <a:r>
              <a:rPr lang="en-US" sz="1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Student-Focused Features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10125075" y="2160746"/>
            <a:ext cx="3675102" cy="1589603"/>
          </a:xfrm>
          <a:prstGeom prst="roundRect">
            <a:avLst>
              <a:gd name="adj" fmla="val 16800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/>
          <p:nvPr/>
        </p:nvSpPr>
        <p:spPr>
          <a:xfrm>
            <a:off x="10318313" y="2353985"/>
            <a:ext cx="2094667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🗺</a:t>
            </a:r>
            <a:r>
              <a:rPr lang="en-US" sz="1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Skill Pathway Map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0318313" y="2767013"/>
            <a:ext cx="328862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Visual roadmap of skills per career goal — colour-coded as To Learn / In Progress / Verified.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10125075" y="3901678"/>
            <a:ext cx="3675102" cy="1589603"/>
          </a:xfrm>
          <a:prstGeom prst="roundRect">
            <a:avLst>
              <a:gd name="adj" fmla="val 16800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10318313" y="4094917"/>
            <a:ext cx="209454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📁</a:t>
            </a:r>
            <a:r>
              <a:rPr lang="en-US" sz="1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Evidence Portfolio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0318313" y="4507944"/>
            <a:ext cx="328862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Proof Ledger: evidence cards for projects, hackathons, courses, and internship tasks — backed by GitHub and demo links.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10125075" y="5642610"/>
            <a:ext cx="3675102" cy="1589603"/>
          </a:xfrm>
          <a:prstGeom prst="roundRect">
            <a:avLst>
              <a:gd name="adj" fmla="val 16800"/>
            </a:avLst>
          </a:prstGeom>
          <a:solidFill>
            <a:srgbClr val="F3F3FF"/>
          </a:solidFill>
          <a:ln w="15240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10318313" y="5835848"/>
            <a:ext cx="2865953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📈</a:t>
            </a:r>
            <a:r>
              <a:rPr lang="en-US" sz="1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Growth Timeline &amp; Journal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0318313" y="6248876"/>
            <a:ext cx="328862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Reflection entries combined with a timeline of skills, projects, and events across semesters.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96541"/>
            <a:ext cx="6149816" cy="55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Recruiter &amp; Mentor Experience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790105"/>
            <a:ext cx="3325773" cy="20553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4057531"/>
            <a:ext cx="2217777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Recruiter Dashboard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37724" y="4436388"/>
            <a:ext cx="6371392" cy="1955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Post jobs and internships with required skills and full details</a:t>
            </a:r>
            <a:endParaRPr lang="en-US" sz="14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Dashboard shows all jobs with </a:t>
            </a:r>
            <a:r>
              <a:rPr lang="en-US" sz="14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candidate counts per pipeline stage</a:t>
            </a:r>
            <a:endParaRPr lang="en-US" sz="14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Detailed applicant view: profile, skills, evidence cards, resume preview</a:t>
            </a:r>
            <a:endParaRPr lang="en-US" sz="14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Update status: Applied → Shortlisted → Test → Interview → Offer → Rejected</a:t>
            </a:r>
            <a:endParaRPr lang="en-US" sz="14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 internal notes and start direct chat with any applicant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166" y="1790105"/>
            <a:ext cx="3325892" cy="20554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1166" y="4057650"/>
            <a:ext cx="2217777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Mentor Dashboard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421166" y="4436507"/>
            <a:ext cx="6371511" cy="1669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 a mentor profile: expertise, company, availability, languages</a:t>
            </a:r>
            <a:endParaRPr lang="en-US" sz="14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Publish structured </a:t>
            </a:r>
            <a:r>
              <a:rPr lang="en-US" sz="14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mentorship offers and programmes</a:t>
            </a:r>
            <a:endParaRPr lang="en-US" sz="14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Dashboard: view session requests, accept / reject, schedule, mark completed</a:t>
            </a:r>
            <a:endParaRPr lang="en-US" sz="14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Students browse mentors, request sessions, and leave reviews post-session</a:t>
            </a:r>
            <a:endParaRPr lang="en-US" sz="14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Feedback loop improves mentor visibility and student trust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837724" y="6583204"/>
            <a:ext cx="12954952" cy="749856"/>
          </a:xfrm>
          <a:prstGeom prst="roundRect">
            <a:avLst>
              <a:gd name="adj" fmla="val 3771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200" y="6859429"/>
            <a:ext cx="235625" cy="1884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50300" y="6799778"/>
            <a:ext cx="12153900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PathPort goes beyond job boards by combining transparent hiring pipelines with structured, trackable mentorship — all in one platform.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34616"/>
            <a:ext cx="10610255" cy="585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Innovations vs LinkedIn / Unstop / Internshala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724" y="1697831"/>
            <a:ext cx="497443" cy="4974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1387" y="1697831"/>
            <a:ext cx="2340888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Skill Pathway Map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71387" y="2103715"/>
            <a:ext cx="5625703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Goal-based, interactive skill roadmap with status colours (To Learn / In Progress / Verified). No other platform does this for students.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3310" y="1697831"/>
            <a:ext cx="497443" cy="4974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66973" y="1697831"/>
            <a:ext cx="2700576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Evidence-Based Portfolio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166973" y="2103715"/>
            <a:ext cx="5625703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skill claim is backed by real work — GitHub links, demos, docs, and task records. Not just tags.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724" y="3102293"/>
            <a:ext cx="497443" cy="4974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71387" y="3102293"/>
            <a:ext cx="3432572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Opportunity Quality Index (OQI)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571387" y="3508177"/>
            <a:ext cx="5625703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Jobs scored 0–100 from student reviews on learning, support, and fairness. Shown as green / yellow / red badges to protect students from low-quality internships.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3310" y="3102293"/>
            <a:ext cx="497443" cy="4974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66973" y="3102293"/>
            <a:ext cx="3487579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Transparent Application Pipeline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166973" y="3508177"/>
            <a:ext cx="5625703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Clear stage-by-stage visibility for both students and recruiters — no black-box hiring.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7724" y="4817031"/>
            <a:ext cx="497443" cy="4974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71387" y="4817031"/>
            <a:ext cx="3993237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Growth Timeline &amp; Reflection Journal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571387" y="5222915"/>
            <a:ext cx="5625703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Track professional evolution semester by semester. Combines events, skills, projects, and personal reflections in one view.</a:t>
            </a:r>
            <a:endParaRPr lang="en-US" sz="15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3310" y="4817031"/>
            <a:ext cx="497443" cy="49744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166973" y="4817031"/>
            <a:ext cx="3029545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Jarvis AI &amp; Career Translator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8166973" y="5222915"/>
            <a:ext cx="5625703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Profile-aware skill suggestions, project ideas, cover letters, and conversion of casual text into professional CV bullets — powered by OpenAI, not a generic chatbot.</a:t>
            </a:r>
            <a:endParaRPr lang="en-US" sz="1550" dirty="0"/>
          </a:p>
        </p:txBody>
      </p:sp>
      <p:sp>
        <p:nvSpPr>
          <p:cNvPr id="21" name="Shape 13"/>
          <p:cNvSpPr/>
          <p:nvPr/>
        </p:nvSpPr>
        <p:spPr>
          <a:xfrm>
            <a:off x="837724" y="6366391"/>
            <a:ext cx="12954952" cy="1128593"/>
          </a:xfrm>
          <a:prstGeom prst="roundRect">
            <a:avLst>
              <a:gd name="adj" fmla="val 2644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677" y="6669405"/>
            <a:ext cx="248722" cy="19895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484352" y="6604992"/>
            <a:ext cx="1210937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Why PathPort is best for students:</a:t>
            </a:r>
            <a:r>
              <a:rPr lang="en-US" sz="15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It proves skills with evidence, supports long-term growth across all four years, and protects students from low-quality opportunities via OQI scoring.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76156"/>
            <a:ext cx="7354610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Deployment, Compliance &amp; Future Scope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16994" y="1369814"/>
            <a:ext cx="6514505" cy="5490210"/>
          </a:xfrm>
          <a:prstGeom prst="roundRect">
            <a:avLst>
              <a:gd name="adj" fmla="val 7325"/>
            </a:avLst>
          </a:prstGeom>
          <a:solidFill>
            <a:srgbClr val="2D4DF2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84515" y="1503759"/>
            <a:ext cx="269259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Deployment &amp; Compliance </a:t>
            </a:r>
            <a:r>
              <a:rPr lang="en-US" sz="15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✅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84515" y="1908572"/>
            <a:ext cx="3022759" cy="1484828"/>
          </a:xfrm>
          <a:prstGeom prst="roundRect">
            <a:avLst>
              <a:gd name="adj" fmla="val 7390"/>
            </a:avLst>
          </a:prstGeom>
          <a:solidFill>
            <a:srgbClr val="2D4DF2">
              <a:alpha val="75000"/>
            </a:srgbClr>
          </a:solidFill>
          <a:ln w="2286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1655" y="1908572"/>
            <a:ext cx="91440" cy="1484828"/>
          </a:xfrm>
          <a:prstGeom prst="roundRect">
            <a:avLst>
              <a:gd name="adj" fmla="val 274880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43476" y="2098953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Backend → Render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43476" y="2479358"/>
            <a:ext cx="2573417" cy="723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Node.js + Express API deployed on Render with MongoDB Atlas as cloud database.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41219" y="1908572"/>
            <a:ext cx="3022759" cy="1484828"/>
          </a:xfrm>
          <a:prstGeom prst="roundRect">
            <a:avLst>
              <a:gd name="adj" fmla="val 7390"/>
            </a:avLst>
          </a:prstGeom>
          <a:solidFill>
            <a:srgbClr val="2D4DF2">
              <a:alpha val="75000"/>
            </a:srgbClr>
          </a:solidFill>
          <a:ln w="2286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018359" y="1908572"/>
            <a:ext cx="91440" cy="1484828"/>
          </a:xfrm>
          <a:prstGeom prst="roundRect">
            <a:avLst>
              <a:gd name="adj" fmla="val 274880"/>
            </a:avLst>
          </a:prstGeom>
          <a:solidFill>
            <a:srgbClr val="018C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00180" y="2098953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Frontend → Vercel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00180" y="2479358"/>
            <a:ext cx="2573417" cy="723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React + Vite SPA deployed on Vercel with environment-variable-driven API URLs.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4515" y="3527346"/>
            <a:ext cx="3022759" cy="1726049"/>
          </a:xfrm>
          <a:prstGeom prst="roundRect">
            <a:avLst>
              <a:gd name="adj" fmla="val 6357"/>
            </a:avLst>
          </a:prstGeom>
          <a:solidFill>
            <a:srgbClr val="2D4DF2">
              <a:alpha val="75000"/>
            </a:srgbClr>
          </a:solidFill>
          <a:ln w="22860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61655" y="3527346"/>
            <a:ext cx="91440" cy="1726049"/>
          </a:xfrm>
          <a:prstGeom prst="roundRect">
            <a:avLst>
              <a:gd name="adj" fmla="val 274880"/>
            </a:avLst>
          </a:prstGeom>
          <a:solidFill>
            <a:srgbClr val="DA33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43476" y="3717727"/>
            <a:ext cx="2158960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Zero Hardcoded Secrets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143476" y="4098131"/>
            <a:ext cx="2573417" cy="964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 API keys, DB URIs, and JWT secrets stored in .env — fully compliant with Cloud Counselage rules.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41219" y="3527346"/>
            <a:ext cx="3022759" cy="1726049"/>
          </a:xfrm>
          <a:prstGeom prst="roundRect">
            <a:avLst>
              <a:gd name="adj" fmla="val 6357"/>
            </a:avLst>
          </a:prstGeom>
          <a:solidFill>
            <a:srgbClr val="2D4DF2">
              <a:alpha val="75000"/>
            </a:srgbClr>
          </a:solidFill>
          <a:ln w="2286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018359" y="3527346"/>
            <a:ext cx="91440" cy="1726049"/>
          </a:xfrm>
          <a:prstGeom prst="roundRect">
            <a:avLst>
              <a:gd name="adj" fmla="val 274880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300180" y="3717727"/>
            <a:ext cx="2029897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Demo Accounts Ready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300180" y="4098131"/>
            <a:ext cx="2573417" cy="723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Pre-filled realistic data for student, recruiter, and mentor roles — evaluator-ready.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27250" y="1503759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Future Roadmap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694771" y="2152293"/>
            <a:ext cx="167521" cy="753904"/>
          </a:xfrm>
          <a:prstGeom prst="roundRect">
            <a:avLst>
              <a:gd name="adj" fmla="val 150041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527250" y="2042279"/>
            <a:ext cx="502682" cy="502682"/>
          </a:xfrm>
          <a:prstGeom prst="roundRect">
            <a:avLst>
              <a:gd name="adj" fmla="val 90952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2861" y="2167890"/>
            <a:ext cx="251341" cy="25134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163878" y="2068473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Real-Time Messaging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8163878" y="2448878"/>
            <a:ext cx="5636419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Socket.io integration for live chat between students, recruiters, and mentors.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946112" y="3291602"/>
            <a:ext cx="167521" cy="753904"/>
          </a:xfrm>
          <a:prstGeom prst="roundRect">
            <a:avLst>
              <a:gd name="adj" fmla="val 150041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7778591" y="3181588"/>
            <a:ext cx="502682" cy="502682"/>
          </a:xfrm>
          <a:prstGeom prst="roundRect">
            <a:avLst>
              <a:gd name="adj" fmla="val 90952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4202" y="3307199"/>
            <a:ext cx="251341" cy="251341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415218" y="3207782"/>
            <a:ext cx="209823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Video Mentorship Calls</a:t>
            </a:r>
            <a:endParaRPr lang="en-US" sz="1550" dirty="0"/>
          </a:p>
        </p:txBody>
      </p:sp>
      <p:sp>
        <p:nvSpPr>
          <p:cNvPr id="31" name="Text 27"/>
          <p:cNvSpPr/>
          <p:nvPr/>
        </p:nvSpPr>
        <p:spPr>
          <a:xfrm>
            <a:off x="8415218" y="3588187"/>
            <a:ext cx="5385078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In-platform video sessions with recording and note-taking capabilities.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8197453" y="4430911"/>
            <a:ext cx="167521" cy="946428"/>
          </a:xfrm>
          <a:prstGeom prst="roundRect">
            <a:avLst>
              <a:gd name="adj" fmla="val 150041"/>
            </a:avLst>
          </a:prstGeom>
          <a:solidFill>
            <a:srgbClr val="F3F3FF"/>
          </a:solidFill>
          <a:ln w="15240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9"/>
          <p:cNvSpPr/>
          <p:nvPr/>
        </p:nvSpPr>
        <p:spPr>
          <a:xfrm>
            <a:off x="8029932" y="4320897"/>
            <a:ext cx="502682" cy="502682"/>
          </a:xfrm>
          <a:prstGeom prst="roundRect">
            <a:avLst>
              <a:gd name="adj" fmla="val 90952"/>
            </a:avLst>
          </a:prstGeom>
          <a:solidFill>
            <a:srgbClr val="F3F3FF"/>
          </a:solidFill>
          <a:ln w="15240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5543" y="4446508"/>
            <a:ext cx="251341" cy="251341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666559" y="4347091"/>
            <a:ext cx="2111812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Resume PDF Generator</a:t>
            </a:r>
            <a:endParaRPr lang="en-US" sz="1550" dirty="0"/>
          </a:p>
        </p:txBody>
      </p:sp>
      <p:sp>
        <p:nvSpPr>
          <p:cNvPr id="36" name="Text 31"/>
          <p:cNvSpPr/>
          <p:nvPr/>
        </p:nvSpPr>
        <p:spPr>
          <a:xfrm>
            <a:off x="8666559" y="4727496"/>
            <a:ext cx="5133737" cy="4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Auto-generate a formatted resume from the student's PathPort profile data.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8448794" y="5762744"/>
            <a:ext cx="167521" cy="946428"/>
          </a:xfrm>
          <a:prstGeom prst="roundRect">
            <a:avLst>
              <a:gd name="adj" fmla="val 150041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3"/>
          <p:cNvSpPr/>
          <p:nvPr/>
        </p:nvSpPr>
        <p:spPr>
          <a:xfrm>
            <a:off x="8281273" y="5652730"/>
            <a:ext cx="502682" cy="502682"/>
          </a:xfrm>
          <a:prstGeom prst="roundRect">
            <a:avLst>
              <a:gd name="adj" fmla="val 90952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6884" y="5778341"/>
            <a:ext cx="251341" cy="251341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8917900" y="5678924"/>
            <a:ext cx="3502581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College Admin Analytics &amp; Mobile App</a:t>
            </a:r>
            <a:endParaRPr lang="en-US" sz="1550" dirty="0"/>
          </a:p>
        </p:txBody>
      </p:sp>
      <p:sp>
        <p:nvSpPr>
          <p:cNvPr id="41" name="Text 35"/>
          <p:cNvSpPr/>
          <p:nvPr/>
        </p:nvSpPr>
        <p:spPr>
          <a:xfrm>
            <a:off x="8917900" y="6059329"/>
            <a:ext cx="4882396" cy="4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Institutional dashboards for faculty + a native mobile app for on-the-go growth tracking.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1089065" y="7161490"/>
            <a:ext cx="12703612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PathPort is not only a LinkedIn clone — it is a full-stack platform for </a:t>
            </a:r>
            <a:r>
              <a:rPr lang="en-US" sz="15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continuous professional development</a:t>
            </a: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of students, from Year 1 to placement and beyond.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837724" y="7010757"/>
            <a:ext cx="22860" cy="542687"/>
          </a:xfrm>
          <a:prstGeom prst="rect">
            <a:avLst/>
          </a:prstGeom>
          <a:solidFill>
            <a:srgbClr val="2D4DF2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1065</Words>
  <Application>Microsoft Office PowerPoint</Application>
  <PresentationFormat>Custom</PresentationFormat>
  <Paragraphs>140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Nunito Semi Bold</vt:lpstr>
      <vt:lpstr>Arial</vt:lpstr>
      <vt:lpstr>PT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BTAIML3-1 ANUJ TIWARI</cp:lastModifiedBy>
  <cp:revision>3</cp:revision>
  <dcterms:created xsi:type="dcterms:W3CDTF">2026-04-28T03:38:46Z</dcterms:created>
  <dcterms:modified xsi:type="dcterms:W3CDTF">2026-04-28T04:23:19Z</dcterms:modified>
</cp:coreProperties>
</file>